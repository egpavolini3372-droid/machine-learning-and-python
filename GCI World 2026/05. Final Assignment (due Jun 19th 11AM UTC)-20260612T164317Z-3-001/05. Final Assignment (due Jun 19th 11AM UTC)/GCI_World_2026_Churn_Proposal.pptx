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Annual Churn Rate by Region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51-9142-92AF-284E5405BF2F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51-9142-92AF-284E5405BF2F}"/>
              </c:ext>
            </c:extLst>
          </c:dPt>
          <c:dPt>
            <c:idx val="2"/>
            <c:invertIfNegative val="0"/>
            <c:bubble3D val="0"/>
            <c:spPr>
              <a:solidFill>
                <a:srgbClr val="02B5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51-9142-92AF-284E5405BF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C51-9142-92AF-284E5405BF2F}"/>
              </c:ext>
            </c:extLst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51-9142-92AF-284E5405BF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18</c:v>
                </c:pt>
                <c:pt idx="2">
                  <c:v>25</c:v>
                </c:pt>
                <c:pt idx="3">
                  <c:v>28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1-9142-92AF-284E5405BF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Mean Values: Churned vs. Retained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rev_Mean</c:v>
                </c:pt>
                <c:pt idx="1">
                  <c:v>mou_Mean</c:v>
                </c:pt>
                <c:pt idx="2">
                  <c:v>custcare_Mean</c:v>
                </c:pt>
                <c:pt idx="3">
                  <c:v>drop_vce_Mean</c:v>
                </c:pt>
                <c:pt idx="4">
                  <c:v>ovrmou_Mean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310</c:v>
                </c:pt>
                <c:pt idx="2">
                  <c:v>3.1</c:v>
                </c:pt>
                <c:pt idx="3">
                  <c:v>2.8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8-3345-BEE4-CE03D1E44B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rev_Mean</c:v>
                </c:pt>
                <c:pt idx="1">
                  <c:v>mou_Mean</c:v>
                </c:pt>
                <c:pt idx="2">
                  <c:v>custcare_Mean</c:v>
                </c:pt>
                <c:pt idx="3">
                  <c:v>drop_vce_Mean</c:v>
                </c:pt>
                <c:pt idx="4">
                  <c:v>ovrmou_Mean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</c:v>
                </c:pt>
                <c:pt idx="1">
                  <c:v>480</c:v>
                </c:pt>
                <c:pt idx="2">
                  <c:v>1.2</c:v>
                </c:pt>
                <c:pt idx="3">
                  <c:v>0.9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88-3345-BEE4-CE03D1E44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s-PE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ROC Curve (illustrative – replace with notebook output)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ROC Curve</c:v>
                </c:pt>
              </c:strCache>
            </c:strRef>
          </c:tx>
          <c:spPr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0.18</c:v>
                </c:pt>
                <c:pt idx="4">
                  <c:v>0.28000000000000003</c:v>
                </c:pt>
                <c:pt idx="5">
                  <c:v>0.4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0.85</c:v>
                </c:pt>
                <c:pt idx="9">
                  <c:v>1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0.3</c:v>
                </c:pt>
                <c:pt idx="2">
                  <c:v>0.52</c:v>
                </c:pt>
                <c:pt idx="3">
                  <c:v>0.68</c:v>
                </c:pt>
                <c:pt idx="4">
                  <c:v>0.78</c:v>
                </c:pt>
                <c:pt idx="5">
                  <c:v>0.85</c:v>
                </c:pt>
                <c:pt idx="6">
                  <c:v>0.9</c:v>
                </c:pt>
                <c:pt idx="7">
                  <c:v>0.94</c:v>
                </c:pt>
                <c:pt idx="8">
                  <c:v>0.97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66-9347-BDB4-13D71B5C01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X_d</c:v>
                </c:pt>
              </c:strCache>
            </c:strRef>
          </c:tx>
          <c:spPr>
            <a:ln w="25400" cap="flat">
              <a:solidFill>
                <a:srgbClr val="E2E8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E8F0"/>
              </a:solidFill>
              <a:ln w="9525" cap="flat">
                <a:solidFill>
                  <a:srgbClr val="E2E8F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0.18</c:v>
                </c:pt>
                <c:pt idx="4">
                  <c:v>0.28000000000000003</c:v>
                </c:pt>
                <c:pt idx="5">
                  <c:v>0.4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0.85</c:v>
                </c:pt>
                <c:pt idx="9">
                  <c:v>1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A66-9347-BDB4-13D71B5C01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Classifier</c:v>
                </c:pt>
              </c:strCache>
            </c:strRef>
          </c:tx>
          <c:spPr>
            <a:ln w="254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E8F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0.18</c:v>
                </c:pt>
                <c:pt idx="4">
                  <c:v>0.28000000000000003</c:v>
                </c:pt>
                <c:pt idx="5">
                  <c:v>0.4</c:v>
                </c:pt>
                <c:pt idx="6">
                  <c:v>0.55000000000000004</c:v>
                </c:pt>
                <c:pt idx="7">
                  <c:v>0.7</c:v>
                </c:pt>
                <c:pt idx="8">
                  <c:v>0.85</c:v>
                </c:pt>
                <c:pt idx="9">
                  <c:v>1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A66-9347-BDB4-13D71B5C01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s-PE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Top Feature Importances (XGBoost)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custcare_Mean</c:v>
                </c:pt>
                <c:pt idx="1">
                  <c:v>change_rev</c:v>
                </c:pt>
                <c:pt idx="2">
                  <c:v>drop_vce_Mean</c:v>
                </c:pt>
                <c:pt idx="3">
                  <c:v>eqpdays</c:v>
                </c:pt>
                <c:pt idx="4">
                  <c:v>rev_Mean</c:v>
                </c:pt>
                <c:pt idx="5">
                  <c:v>months</c:v>
                </c:pt>
                <c:pt idx="6">
                  <c:v>ovrmou_Mean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0.1</c:v>
                </c:pt>
                <c:pt idx="4">
                  <c:v>0.09</c:v>
                </c:pt>
                <c:pt idx="5">
                  <c:v>0.08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F-CF43-A567-C042C9CC00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3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589520" y="-731520"/>
            <a:ext cx="2743200" cy="2743200"/>
          </a:xfrm>
          <a:prstGeom prst="ellipse">
            <a:avLst/>
          </a:prstGeom>
          <a:solidFill>
            <a:srgbClr val="02B5CC">
              <a:alpha val="40000"/>
            </a:srgbClr>
          </a:solidFill>
          <a:ln w="12700">
            <a:solidFill>
              <a:srgbClr val="02B5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2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CHURN PREVENTION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Business Proposal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Company 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Industry | GCI World 2026 – Final Assignment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University  ·  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47914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 – PoC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79145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telecom churn landscape &amp; industry benchmarks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89204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3212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1536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Company A's ~100K customer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churn as a quantifiable revenue risk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321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 &amp; Results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evaluation metrics, and key findings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9436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96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prevention system &amp; quantified impact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40965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plan, risks, and references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B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Context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churn: a global, costly, and solvable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Churn is a $300B+ Global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telecom¹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6459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29184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5–25×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vs.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 customer²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$300B+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annual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churn³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57200" y="2834640"/>
          <a:ext cx="5303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5943600" y="2834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59893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2918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is among the highest-churn industries worldwide. A 5% improvement in retention can lift profits by 25–95%.⁴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A's dataset offers a rare opportunity to build a proactive, ML-driven retention system.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¹ GSMA Intelligence 2024  ² Harvard Business Review  ³ McKinsey Global Institute 2023  ⁴ Bain &amp; Company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B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Company A's 100K customer records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Overview: Company A – Telecom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Records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rows across Client &amp; Record CSV 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937760" y="10241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Columns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usage, call quality, demographics, and churn label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churn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churned 31–60 days after observation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93776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NaN columns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recv_sms_Mean, iwylis_vce_Mean, Customer_ID unexplained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B5CC"/>
                </a:solidFill>
              </a:rPr>
              <a:t>Feature Groups: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977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(rev, ovrrev, adjrev, avgrev…)  |  Usage (mou, ovrmou, avg3mou…)  |  Call Quality (drop, blck, unan…)  |  Demographics (income, marital, area…)  |  Account (months, crclscod, eqpdays…)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Key Patterns Driving Churn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686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580644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revenue &amp; usage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0644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show 28% lower avg. monthly revenue and 35% lower MOU.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5806440" y="1764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call failures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2066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Dropped/blocked calls 2–3× higher in churned segment — service quality signal.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806440" y="25694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customer care calls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call support 2.6× more — a leading churn predictor.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332841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5806440" y="3374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 trend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change_rev in last 3 months strongly correlated with churn.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4133088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5806440" y="4178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age matters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0644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eqpdays &gt; 600 associated with higher churn — handset upgrade opportunity.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Note: Values are illustrative placeholders — replace with actual EDA output from your notebook.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B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data patterns into a strategic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Problem: Invisible Revenue Leakage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cannot identify which customers will churn until they already have — forcing reactive, expensive win-back campaigns instead of low-cost proactive retention.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1353312" y="2148840"/>
            <a:ext cx="822960" cy="8229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66928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5478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churned customer represents lost lifetime value. Acquiring a replacement costs 5–25× more than retention.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187952" y="2148840"/>
            <a:ext cx="822960" cy="82296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401568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35478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predictive model, warning signs in the data (service failures, usage drops) go unacted upon.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7022592" y="21488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236208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Campaigns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35478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discount campaigns waste resources on loyal customers who would never have churned.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4864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ML Task → Binary Classification: Predict P(churn) per customer using behavioral, usage, and demographic features.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B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Approach &amp; Results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training, and performance 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Results: Predicting Customer Churn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1417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Baseline; highly interpretable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Handles non-linearity; feature importance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XGBoost ✓ Best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[0.XX]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Best overall AUC; robust to class imbalance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2788920"/>
          <a:ext cx="50292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669280" y="86868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Note: All scores are placeholders — replace with actual model output from your notebook.</a:t>
            </a:r>
            <a:endParaRPr lang="en-US" sz="800" dirty="0"/>
          </a:p>
        </p:txBody>
      </p:sp>
      <p:sp>
        <p:nvSpPr>
          <p:cNvPr id="8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18288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B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Proposal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profit: the churn prevention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Proposal: ML-Powered Churn Prevention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1325880" y="10058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1325880" y="102412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batch scoring of all customers using XGBoost model → churn probability per customer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160520" y="10058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160520" y="102412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1568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at-risk customers into tiers (High / Med / Low) based on probability threshold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995160" y="10058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995160" y="102412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6208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retention actions: upgrade offers, tech support outreach, loyalty discounts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Business Impact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5486400" cy="256032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Saved / Year*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~2,000–5,000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76472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4864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Revenue / Customer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0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~$[rev_Mean from EDA]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32504"/>
            <a:ext cx="5486400" cy="256032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548640" y="4032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Preserved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02336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~$[X]M / year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88536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48640" y="4288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Cost / Customer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23360" y="4288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~$10–30 (industry est.)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44568"/>
            <a:ext cx="5486400" cy="256032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548640" y="4544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023360" y="4544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~300–600%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*Assumes 20K at-risk customers/year, 10–25% conversion on retention offers. Fill with actual model precision figures.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6309360" y="3182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54787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already has the data. The ML infrastructure can be deployed in 60–90 days. Delayed action means ~$[X] in preventable churn loss per month.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&amp; Risk Considerations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 |  Weeks 1–4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Validation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data access SLA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ETL 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feature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310128" y="914400"/>
            <a:ext cx="2651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401568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 |  Weeks 5–10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tuning (XGBoost)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1568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retention campaigns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 (SHAP)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9144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163056" y="914400"/>
            <a:ext cx="26517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254496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 |  Weeks 11–16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54496" y="1261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batch scoring in prod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4496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for intervention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2423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 &amp; retraining schedule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Mitigations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412480" cy="246888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48640" y="37490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⚠ Class imbalance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3749040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SMOTE / class_weight; optimize for recall over precision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548640" y="400507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⚠ Data quality / NaN cols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400507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Imputation pipeline; flag unexplained columns with Company 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61104"/>
            <a:ext cx="8412480" cy="246888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48640" y="42611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⚠ Model staleness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4261104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Monthly retraining + drift monitoring (KL-divergence on features)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17136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548640" y="451713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⚠ Ethical / privacy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4517136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Ensure GDPR/PDPA compliance; no discriminatory feature use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GSMA Intelligence (2024). Global Mobile Trends 2024. https://www.gsma.com/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3502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Reichheld, F. &amp; Sasser, W.E. (1990). Zero Defections. Harvard Business Review.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709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McKinsey Global Institute (2023). The value of getting personalization right. https://www.mckinsey.com/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Bain &amp; Company. Customer Loyalty in Telecom. https://www.bain.com/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597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Géron, A. (2022). Hands-On Machine Learning with Scikit-Learn, Keras &amp; TensorFlow. O'Reilly.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Chen, T. &amp; Guestrin, C. (2016). XGBoost: A Scalable Tree Boosting System. KDD 2016.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0954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Chawla, N.V. et al. (2002). SMOTE: Synthetic Minority Over-sampling Technique. JAIR.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Company A Dataset – GCI World 2026 Spring (provided via Omnicampus course materials).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593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[Add any additional sources used in your EDA / market analysis here]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3342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Generative AI usage: [Paste Claude / ChatGPT conversation URL here per submission rules]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572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GCI World 2026 – Final Assignment  |  Tokyo University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Macintosh PowerPoint</Application>
  <PresentationFormat>Presentación en pantalla (16:9)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GCI World 2026 – Telecom Churn Prevention Proposal</dc:title>
  <dc:subject>PptxGenJS Presentation</dc:subject>
  <dc:creator>PptxGenJS</dc:creator>
  <cp:lastModifiedBy>Erwin Pavolini</cp:lastModifiedBy>
  <cp:revision>1</cp:revision>
  <dcterms:created xsi:type="dcterms:W3CDTF">2026-06-14T23:22:34Z</dcterms:created>
  <dcterms:modified xsi:type="dcterms:W3CDTF">2026-06-15T14:55:13Z</dcterms:modified>
</cp:coreProperties>
</file>